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7" r:id="rId11"/>
    <p:sldId id="271" r:id="rId12"/>
    <p:sldId id="274" r:id="rId13"/>
    <p:sldId id="268" r:id="rId14"/>
    <p:sldId id="275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66"/>
    <p:restoredTop sz="94610"/>
  </p:normalViewPr>
  <p:slideViewPr>
    <p:cSldViewPr snapToGrid="0" snapToObjects="1">
      <p:cViewPr>
        <p:scale>
          <a:sx n="159" d="100"/>
          <a:sy n="159" d="100"/>
        </p:scale>
        <p:origin x="1056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42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1F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13232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One Race Outcome Prediction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Feature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422: Practical Machine Learning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1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Alsiyat  ·  Qifan Yang  ·  Boqi Niu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US" sz="11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Irene Tsapara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1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Northwestern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Oval 5"/>
          <p:cNvSpPr/>
          <p:nvPr/>
        </p:nvSpPr>
        <p:spPr>
          <a:xfrm>
            <a:off x="500000" y="7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000" y="71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 dirty="0">
                <a:solidFill>
                  <a:srgbClr val="4E2A84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000" y="90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Why predict F1 top-10 finishes?</a:t>
            </a:r>
          </a:p>
        </p:txBody>
      </p:sp>
      <p:sp>
        <p:nvSpPr>
          <p:cNvPr id="9" name="Oval 8"/>
          <p:cNvSpPr/>
          <p:nvPr/>
        </p:nvSpPr>
        <p:spPr>
          <a:xfrm>
            <a:off x="500000" y="109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000" y="107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Data Integration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000" y="126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11 tables merged into one unified dataset</a:t>
            </a:r>
          </a:p>
        </p:txBody>
      </p:sp>
      <p:sp>
        <p:nvSpPr>
          <p:cNvPr id="12" name="Oval 11"/>
          <p:cNvSpPr/>
          <p:nvPr/>
        </p:nvSpPr>
        <p:spPr>
          <a:xfrm>
            <a:off x="500000" y="145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000" y="143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000" y="162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Key patterns and insights from 74 years of F1</a:t>
            </a:r>
          </a:p>
        </p:txBody>
      </p:sp>
      <p:sp>
        <p:nvSpPr>
          <p:cNvPr id="15" name="Oval 14"/>
          <p:cNvSpPr/>
          <p:nvPr/>
        </p:nvSpPr>
        <p:spPr>
          <a:xfrm>
            <a:off x="500000" y="181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000" y="179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Feature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000" y="198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35+ leakage-safe features across 12 categories</a:t>
            </a:r>
          </a:p>
        </p:txBody>
      </p:sp>
      <p:sp>
        <p:nvSpPr>
          <p:cNvPr id="18" name="Oval 17"/>
          <p:cNvSpPr/>
          <p:nvPr/>
        </p:nvSpPr>
        <p:spPr>
          <a:xfrm>
            <a:off x="500000" y="217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000" y="215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Data Leakage Prevention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000" y="234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How we ensured model integrity</a:t>
            </a:r>
          </a:p>
        </p:txBody>
      </p:sp>
      <p:sp>
        <p:nvSpPr>
          <p:cNvPr id="21" name="Oval 20"/>
          <p:cNvSpPr/>
          <p:nvPr/>
        </p:nvSpPr>
        <p:spPr>
          <a:xfrm>
            <a:off x="500000" y="25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000" y="251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Baseline Model Performance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000" y="270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Initial three-model comparison results</a:t>
            </a:r>
          </a:p>
        </p:txBody>
      </p:sp>
      <p:sp>
        <p:nvSpPr>
          <p:cNvPr id="24" name="Oval 23"/>
          <p:cNvSpPr/>
          <p:nvPr/>
        </p:nvSpPr>
        <p:spPr>
          <a:xfrm>
            <a:off x="500000" y="289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000" y="287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Full Model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000" y="306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5 models + baseline evaluated on val and test</a:t>
            </a:r>
          </a:p>
        </p:txBody>
      </p:sp>
      <p:sp>
        <p:nvSpPr>
          <p:cNvPr id="27" name="Oval 26"/>
          <p:cNvSpPr/>
          <p:nvPr/>
        </p:nvSpPr>
        <p:spPr>
          <a:xfrm>
            <a:off x="500000" y="325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000" y="323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Feature Importance &amp; SHAP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000" y="342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Interpretability analysis of top predictors</a:t>
            </a:r>
          </a:p>
        </p:txBody>
      </p:sp>
      <p:sp>
        <p:nvSpPr>
          <p:cNvPr id="30" name="Oval 29"/>
          <p:cNvSpPr/>
          <p:nvPr/>
        </p:nvSpPr>
        <p:spPr>
          <a:xfrm>
            <a:off x="500000" y="361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000" y="359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Ensemble Learning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000" y="378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Voting, weighting, and stacking strategies</a:t>
            </a:r>
          </a:p>
        </p:txBody>
      </p:sp>
      <p:sp>
        <p:nvSpPr>
          <p:cNvPr id="33" name="Oval 32"/>
          <p:cNvSpPr/>
          <p:nvPr/>
        </p:nvSpPr>
        <p:spPr>
          <a:xfrm>
            <a:off x="500000" y="397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000" y="395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Model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000" y="414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Registry, batch scoring, and monitoring pipeline</a:t>
            </a:r>
          </a:p>
        </p:txBody>
      </p:sp>
      <p:sp>
        <p:nvSpPr>
          <p:cNvPr id="36" name="Oval 35"/>
          <p:cNvSpPr/>
          <p:nvPr/>
        </p:nvSpPr>
        <p:spPr>
          <a:xfrm>
            <a:off x="500000" y="43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000" y="4310000"/>
            <a:ext cx="72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000" y="4500000"/>
            <a:ext cx="7200000" cy="17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00" b="0">
                <a:solidFill>
                  <a:srgbClr val="5A5A5A"/>
                </a:solidFill>
                <a:latin typeface="Calibri"/>
              </a:rPr>
              <a:t>Key findings and next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931920" cy="356616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race outcomes depend on driver skill, constructor performance, track characteristics, and race conditions.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in the top 10 determines whether a driver earns championship points, a critical threshold for competitive success.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machine learning predict top-10 finishes using only pre-race information?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356616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60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ML models for top-10 finish prediction using historical F1 data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qualifying position, constructor, driver history, and circuit affect outcomes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circuit-level variation in race unpredictability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for accuracy, interpretability, and decision-support value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Integration Strategy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920240" cy="91440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1950–2024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1920240" cy="91440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2514600" y="777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Driver–Race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920240" cy="91440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Merged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777240"/>
            <a:ext cx="1920240" cy="91440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6812280" y="777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Created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Integrated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251460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8"/>
          <p:cNvSpPr/>
          <p:nvPr/>
        </p:nvSpPr>
        <p:spPr>
          <a:xfrm>
            <a:off x="54864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651760" y="251460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20"/>
          <p:cNvSpPr/>
          <p:nvPr/>
        </p:nvSpPr>
        <p:spPr>
          <a:xfrm>
            <a:off x="265176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251460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5" name="Text 22"/>
          <p:cNvSpPr/>
          <p:nvPr/>
        </p:nvSpPr>
        <p:spPr>
          <a:xfrm>
            <a:off x="475488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58000" y="251460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Text 24"/>
          <p:cNvSpPr/>
          <p:nvPr/>
        </p:nvSpPr>
        <p:spPr>
          <a:xfrm>
            <a:off x="685800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Text 26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Text 28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3" name="Text 30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5" name="Text 32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Stops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8640" y="333756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7" name="Text 34"/>
          <p:cNvSpPr/>
          <p:nvPr/>
        </p:nvSpPr>
        <p:spPr>
          <a:xfrm>
            <a:off x="5486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Times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651760" y="333756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9" name="Text 36"/>
          <p:cNvSpPr/>
          <p:nvPr/>
        </p:nvSpPr>
        <p:spPr>
          <a:xfrm>
            <a:off x="26517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Standings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1" name="Text 38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Standings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3" name="Text 40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top10_finish — binary indicator (1 = driver finished in top 10, 0 = otherwise). Derived from positionOrder ≤ 10.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169164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16916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886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Position Dominance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325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position is the strongest predictor of top-10 finishes. Pole position converts to top-10 at &gt;95% rate; grid 15+ drops below 30%.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777240"/>
            <a:ext cx="4114800" cy="169164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4754880" y="777240"/>
            <a:ext cx="54864" cy="16916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9144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886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Effect: 88%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1325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Kesteren &amp; Bergkamp (2023) found ~88% of F1 result variance is attributable to the constructor, not the driver.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2651760"/>
            <a:ext cx="4114800" cy="169164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3"/>
          <p:cNvSpPr/>
          <p:nvPr/>
        </p:nvSpPr>
        <p:spPr>
          <a:xfrm>
            <a:off x="365760" y="2651760"/>
            <a:ext cx="54864" cy="16916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889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 Decline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94360" y="3200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Finish rates have dropped from ~40% in the 1950s to under 10% in recent seasons, reflecting reliability improvements.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651760"/>
            <a:ext cx="4114800" cy="169164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Shape 17"/>
          <p:cNvSpPr/>
          <p:nvPr/>
        </p:nvSpPr>
        <p:spPr>
          <a:xfrm>
            <a:off x="4754880" y="2651760"/>
            <a:ext cx="54864" cy="16916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7889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Variation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83480" y="3200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circuits show much higher position volatility, suggesting more unpredictable races — important for modeling uncertainty.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35+ Features Across 12 Categories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616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320040" y="7616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411480" y="8530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645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age, race month,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stage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7616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2514600" y="7616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2606040" y="8530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2645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5-race top-10 rate,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rate, avg position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7616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Shape 13"/>
          <p:cNvSpPr/>
          <p:nvPr/>
        </p:nvSpPr>
        <p:spPr>
          <a:xfrm>
            <a:off x="4709160" y="7616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4800600" y="8530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2645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rolling stats,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top-10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7616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6903720" y="7616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995160" y="8530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12645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rate, volatility,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driver-circuit history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1332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320040" y="21332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411480" y="22246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Driver–Team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26361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together,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success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21332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Shape 25"/>
          <p:cNvSpPr/>
          <p:nvPr/>
        </p:nvSpPr>
        <p:spPr>
          <a:xfrm>
            <a:off x="2514600" y="21332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2606040" y="22246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040" y="26361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position, front-row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top-5/top-10 flags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1332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Shape 29"/>
          <p:cNvSpPr/>
          <p:nvPr/>
        </p:nvSpPr>
        <p:spPr>
          <a:xfrm>
            <a:off x="4709160" y="21332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4800600" y="22246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6361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size,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percentile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21332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5" name="Shape 33"/>
          <p:cNvSpPr/>
          <p:nvPr/>
        </p:nvSpPr>
        <p:spPr>
          <a:xfrm>
            <a:off x="6903720" y="21332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6995160" y="22246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26361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streak, points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3, position trend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465735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9" name="Shape 37"/>
          <p:cNvSpPr/>
          <p:nvPr/>
        </p:nvSpPr>
        <p:spPr>
          <a:xfrm>
            <a:off x="320040" y="3465735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411480" y="355717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Stop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3968655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stops per race,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pit efficiency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14600" y="3465735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3" name="Shape 41"/>
          <p:cNvSpPr/>
          <p:nvPr/>
        </p:nvSpPr>
        <p:spPr>
          <a:xfrm>
            <a:off x="2514600" y="3465735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2606040" y="355717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06040" y="3968655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 position,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gap to leader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465735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7" name="Shape 45"/>
          <p:cNvSpPr/>
          <p:nvPr/>
        </p:nvSpPr>
        <p:spPr>
          <a:xfrm>
            <a:off x="4709160" y="3465735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4800600" y="355717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3968655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era encoding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(1950s to ground effect)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3465735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1" name="Shape 49"/>
          <p:cNvSpPr/>
          <p:nvPr/>
        </p:nvSpPr>
        <p:spPr>
          <a:xfrm>
            <a:off x="6903720" y="3465735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6995160" y="355717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95160" y="3968655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driver,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constructor, circuit, country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Leakage: The Issue &amp; The Fix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models scored 1.000 ROC AUC — a clear sign of data leakage.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Post-race features were included as model inputs: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positionOrder — directly defines the target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— only awarded to top-10 finishers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milliseconds, laps — post-race outcome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standings included current race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8229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B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Fixed It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46320" y="12801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Leakage Guard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blocklist of 12+ post-race columns removed from feature matrix.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shift(1) on All Rolling Features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expanding/rolling window excludes the current race.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Standings Fix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to previous round's standings so model only sees pre-race info.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Audit Cell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 flags any feature with |correlation| &gt; 0.85 to the target.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Performance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3-way split:  Train (&lt; 2018)  |  Validation (2018–2021)  |  Test Holdout (2022–2024)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(2018–2021)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840480" cy="975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Holdout (2022–2024)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840480" cy="975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3246120"/>
            <a:ext cx="84124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8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best overall performance (0.869 ROC AUC on holdout)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 slightly higher than validation — no overfitting detected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use only pre-race features after leakage fix — results are realistic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Northwestern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800" b="1" dirty="0">
                <a:solidFill>
                  <a:srgbClr val="FFFFFF"/>
                </a:solidFill>
                <a:latin typeface="Calibri"/>
              </a:rPr>
              <a:t>Implementation Strategy &amp; Pipeline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628E0B-FA3D-DC0C-C784-10C6947A8AB1}"/>
              </a:ext>
            </a:extLst>
          </p:cNvPr>
          <p:cNvGrpSpPr/>
          <p:nvPr/>
        </p:nvGrpSpPr>
        <p:grpSpPr>
          <a:xfrm>
            <a:off x="1005840" y="800000"/>
            <a:ext cx="7132320" cy="3083040"/>
            <a:chOff x="833344" y="800000"/>
            <a:chExt cx="7132320" cy="3083040"/>
          </a:xfrm>
        </p:grpSpPr>
        <p:sp>
          <p:nvSpPr>
            <p:cNvPr id="6" name="Oval 5"/>
            <p:cNvSpPr/>
            <p:nvPr/>
          </p:nvSpPr>
          <p:spPr>
            <a:xfrm>
              <a:off x="119910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83334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Data</a:t>
              </a:r>
            </a:p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Collection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3334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Kaggle F1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11 CSV tables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66214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29638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Data</a:t>
              </a:r>
            </a:p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Integration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9638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Merge into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driver–race rows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12518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5942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EDA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75942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Patterns,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missing data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558822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22246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Feature</a:t>
              </a:r>
            </a:p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Engineering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2246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35+ features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shift(1) safe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05126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8550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Leakage</a:t>
              </a:r>
            </a:p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Audit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8550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Block post-race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columns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19910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6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3334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Baseline</a:t>
              </a:r>
            </a:p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Models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3334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LR, RF, GB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3-way split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266214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7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9638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Model</a:t>
              </a:r>
            </a:p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Selection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29638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MLP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hyperparameter search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412518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8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75942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Ensemble</a:t>
              </a:r>
            </a:p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Learning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75942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Voting, stacking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weighted blend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558822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9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22246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SHAP</a:t>
              </a:r>
            </a:p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Analysis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2246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Feature importance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interpretability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705126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Calibri"/>
                </a:rPr>
                <a:t>10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68550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4E2A84"/>
                  </a:solidFill>
                  <a:latin typeface="Calibri"/>
                </a:rPr>
                <a:t>Deployment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68550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Registry, batch</a:t>
              </a:r>
            </a:p>
            <a:p>
              <a:pPr algn="ctr"/>
              <a:r>
                <a:rPr sz="900" b="0">
                  <a:solidFill>
                    <a:srgbClr val="5A5A5A"/>
                  </a:solidFill>
                  <a:latin typeface="Calibri"/>
                </a:rPr>
                <a:t>monitoring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91440" y="3960000"/>
            <a:ext cx="3657600" cy="26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400" b="1" dirty="0">
                <a:solidFill>
                  <a:srgbClr val="4E2A84"/>
                </a:solidFill>
                <a:latin typeface="Calibri"/>
              </a:rPr>
              <a:t>Key Design Principles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946" y="4250000"/>
            <a:ext cx="77724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000" b="1" dirty="0">
                <a:solidFill>
                  <a:srgbClr val="4E2A84"/>
                </a:solidFill>
                <a:latin typeface="Calibri"/>
              </a:rPr>
              <a:t>Reproducible pipeline:</a:t>
            </a:r>
            <a:r>
              <a:rPr sz="1000" b="0" dirty="0">
                <a:solidFill>
                  <a:srgbClr val="2D2D2D"/>
                </a:solidFill>
                <a:latin typeface="Calibri"/>
              </a:rPr>
              <a:t> EDA → feature engineering → modeling → evaluation → deployment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6946" y="4480000"/>
            <a:ext cx="77724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000" b="1">
                <a:solidFill>
                  <a:srgbClr val="4E2A84"/>
                </a:solidFill>
                <a:latin typeface="Calibri"/>
              </a:rPr>
              <a:t>Validation-first mindset:</a:t>
            </a:r>
            <a:r>
              <a:rPr sz="1000" b="0">
                <a:solidFill>
                  <a:srgbClr val="2D2D2D"/>
                </a:solidFill>
                <a:latin typeface="Calibri"/>
              </a:rPr>
              <a:t> Model choices based on validation; test set held out for final confirmation</a:t>
            </a:r>
          </a:p>
        </p:txBody>
      </p:sp>
    </p:spTree>
    <p:extLst>
      <p:ext uri="{BB962C8B-B14F-4D97-AF65-F5344CB8AC3E}">
        <p14:creationId xmlns:p14="http://schemas.microsoft.com/office/powerpoint/2010/main" val="3261960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Northwestern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 dirty="0">
                <a:solidFill>
                  <a:srgbClr val="FFFFFF"/>
                </a:solidFill>
                <a:latin typeface="Calibri"/>
              </a:rPr>
              <a:t>Full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5A5A5A"/>
                </a:solidFill>
                <a:latin typeface="Calibri"/>
              </a:rPr>
              <a:t>Temporal 3-way split:  Train (&lt; 2018)  |  Validation (2018–2021)  |  Test Holdout (2022–2024)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4E2A84"/>
                </a:solidFill>
                <a:latin typeface="Calibri"/>
              </a:rPr>
              <a:t>Validation Set (2018–2021)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80160"/>
          <a:ext cx="4023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ROC AUC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 AUC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Baseline (Grid LR)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0.745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0.748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0.830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0.803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0.770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0.832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0.837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0.763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846320" y="1005840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4E2A84"/>
                </a:solidFill>
                <a:latin typeface="Calibri"/>
              </a:rPr>
              <a:t>Test Holdout (2022–2024)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0" y="1280160"/>
          <a:ext cx="4023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ROC AUC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 AUC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Baseline (Grid LR)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0.724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0.757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0.856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0.793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0.863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0.832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2800000"/>
            <a:ext cx="8046720" cy="16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E2A84"/>
                </a:solidFill>
                <a:latin typeface="Calibri"/>
              </a:rPr>
              <a:t>Key Takeaways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Gradient Boosting achieves the best PR AUC on both validation (0.805) and test (0.852)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All five models significantly outperform the grid-only baseline, validating the feature engineering pipeline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Test scores are consistent with validation — no overfitting detected across the temporal split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Tree-based models (RF, GB) consistently outperform linear and neural network approaches</a:t>
            </a:r>
          </a:p>
        </p:txBody>
      </p:sp>
    </p:spTree>
    <p:extLst>
      <p:ext uri="{BB962C8B-B14F-4D97-AF65-F5344CB8AC3E}">
        <p14:creationId xmlns:p14="http://schemas.microsoft.com/office/powerpoint/2010/main" val="3947364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Northwestern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Feature Importance &amp; SHAP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777" y="778042"/>
            <a:ext cx="4143676" cy="1920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2000" b="1" dirty="0">
                <a:solidFill>
                  <a:srgbClr val="4E2A84"/>
                </a:solidFill>
                <a:latin typeface="Calibri"/>
              </a:rPr>
              <a:t>Top Predictive Features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Grid position (starting position) — strongest single predictor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Constructor rolling top-10 rate — team strength signal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Driver 5-race rolling top-10 rate — recent form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Grid percentile — relative field position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Championship standing position — season context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Driver–constructor joint success rate — team synergy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778042"/>
            <a:ext cx="5342020" cy="1734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2000" b="1" dirty="0">
                <a:solidFill>
                  <a:srgbClr val="4E2A84"/>
                </a:solidFill>
                <a:latin typeface="Calibri"/>
              </a:rPr>
              <a:t>Key SHAP Insights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Grid position has highest mean |SHAP value| — confirms domain</a:t>
            </a:r>
            <a:r>
              <a:rPr lang="en-US" sz="1100" b="0" dirty="0">
                <a:solidFill>
                  <a:srgbClr val="2D2D2D"/>
                </a:solidFill>
                <a:latin typeface="Calibri"/>
              </a:rPr>
              <a:t> </a:t>
            </a:r>
            <a:r>
              <a:rPr sz="1100" b="0" dirty="0">
                <a:solidFill>
                  <a:srgbClr val="2D2D2D"/>
                </a:solidFill>
                <a:latin typeface="Calibri"/>
              </a:rPr>
              <a:t>knowledge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Constructor features show strong positive SHAP for top teams (Mercedes, Red Bull)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Driver momentum features (streaks, recent form) show asymmetric effects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Circuit-specific features have moderate but consistent directional influence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Era encoding captures structural shifts in competitiveness across regulation periods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777" y="3003804"/>
            <a:ext cx="5964455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2000" b="1" dirty="0">
                <a:solidFill>
                  <a:srgbClr val="4E2A84"/>
                </a:solidFill>
                <a:latin typeface="Calibri"/>
              </a:rPr>
              <a:t>Methodology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Permutation importance computed on test set with 8 repeats for stability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SHAP </a:t>
            </a:r>
            <a:r>
              <a:rPr sz="1100" b="0" dirty="0" err="1">
                <a:solidFill>
                  <a:srgbClr val="2D2D2D"/>
                </a:solidFill>
                <a:latin typeface="Calibri"/>
              </a:rPr>
              <a:t>TreeExplainer</a:t>
            </a:r>
            <a:r>
              <a:rPr sz="1100" b="0" dirty="0">
                <a:solidFill>
                  <a:srgbClr val="2D2D2D"/>
                </a:solidFill>
                <a:latin typeface="Calibri"/>
              </a:rPr>
              <a:t> applied to best tree-based model on 1,000-sample subset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2D2D2D"/>
                </a:solidFill>
                <a:latin typeface="Calibri"/>
              </a:rPr>
              <a:t>Both methods confirm grid position and constructor strength as dominant predictive signals</a:t>
            </a:r>
          </a:p>
        </p:txBody>
      </p:sp>
    </p:spTree>
    <p:extLst>
      <p:ext uri="{BB962C8B-B14F-4D97-AF65-F5344CB8AC3E}">
        <p14:creationId xmlns:p14="http://schemas.microsoft.com/office/powerpoint/2010/main" val="415075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Northwestern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 dirty="0">
                <a:solidFill>
                  <a:srgbClr val="FFFFFF"/>
                </a:solidFill>
                <a:latin typeface="Calibri"/>
              </a:rPr>
              <a:t>Ensemble Learning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Four ensemble strategies built from the top 2 validation models (Random Forest, Gradient Boosting)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82296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Ensemble Method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 PR AUC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PR AUC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ROC AUC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F1</a:t>
                      </a:r>
                    </a:p>
                  </a:txBody>
                  <a:tcPr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Soft Voting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0.797</a:t>
                      </a:r>
                    </a:p>
                  </a:txBody>
                  <a:tcPr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Weighted Voting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Stacking (Meta-LR)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0.809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0.842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Hard Voting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2254078"/>
            <a:ext cx="3200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300" b="1" dirty="0">
                <a:solidFill>
                  <a:srgbClr val="4E2A84"/>
                </a:solidFill>
                <a:latin typeface="Calibri"/>
              </a:rPr>
              <a:t>Best Single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0000"/>
            <a:ext cx="393192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Gradient Boosting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Test ROC AUC: 0.864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Test PR AUC: 0.852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Test F1: 0.789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Fastest inference, simplest to deploy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249320"/>
            <a:ext cx="3200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300" b="1" dirty="0">
                <a:solidFill>
                  <a:srgbClr val="4E2A84"/>
                </a:solidFill>
                <a:latin typeface="Calibri"/>
              </a:rPr>
              <a:t>Best Ensemble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400000"/>
            <a:ext cx="393192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Stacking (Meta-LR)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Test ROC AUC: 0.868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Test PR AUC: 0.842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Test F1: 0.798</a:t>
            </a:r>
          </a:p>
          <a:p>
            <a:r>
              <a:rPr sz="1000" b="0">
                <a:solidFill>
                  <a:srgbClr val="2D2D2D"/>
                </a:solidFill>
                <a:latin typeface="Calibri"/>
              </a:rPr>
              <a:t>•  Marginal ROC gain, lower PR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80000"/>
            <a:ext cx="80467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 dirty="0">
                <a:solidFill>
                  <a:srgbClr val="4E2A84"/>
                </a:solidFill>
                <a:latin typeface="Calibri"/>
              </a:rPr>
              <a:t>Takeaway</a:t>
            </a:r>
          </a:p>
          <a:p>
            <a:r>
              <a:rPr sz="1000" b="0" dirty="0">
                <a:solidFill>
                  <a:srgbClr val="2D2D2D"/>
                </a:solidFill>
                <a:latin typeface="Calibri"/>
              </a:rPr>
              <a:t>•  Ensembles match but do not clearly exceed the best single model (Gradient Boosting) on this dataset</a:t>
            </a:r>
          </a:p>
          <a:p>
            <a:r>
              <a:rPr sz="1000" b="0" dirty="0">
                <a:solidFill>
                  <a:srgbClr val="2D2D2D"/>
                </a:solidFill>
                <a:latin typeface="Calibri"/>
              </a:rPr>
              <a:t>•  Gradient Boosting is recommended for deployment due to comparable performance with simpler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8070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Northwestern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Model Deployment &amp; Monitoring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731520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685800"/>
            <a:ext cx="7589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300" b="1">
                <a:solidFill>
                  <a:srgbClr val="4E2A84"/>
                </a:solidFill>
                <a:latin typeface="Calibri"/>
              </a:rPr>
              <a:t>Model Registry</a:t>
            </a:r>
          </a:p>
          <a:p>
            <a:r>
              <a:rPr sz="1100" b="0">
                <a:solidFill>
                  <a:srgbClr val="2D2D2D"/>
                </a:solidFill>
                <a:latin typeface="Calibri"/>
              </a:rPr>
              <a:t>Best model and scaler saved via joblib for reproducible deployment. Feature list and metadata stored as JSON artifacts.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481328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435608"/>
            <a:ext cx="7589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300" b="1">
                <a:solidFill>
                  <a:srgbClr val="4E2A84"/>
                </a:solidFill>
                <a:latin typeface="Calibri"/>
              </a:rPr>
              <a:t>BatchPredictor</a:t>
            </a:r>
          </a:p>
          <a:p>
            <a:r>
              <a:rPr sz="1100" b="0">
                <a:solidFill>
                  <a:srgbClr val="2D2D2D"/>
                </a:solidFill>
                <a:latin typeface="Calibri"/>
              </a:rPr>
              <a:t>Offline scoring utility that loads the serialized model and scaler, accepts a DataFrame of pre-race features, and returns top-10 probability estimates.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185416"/>
            <a:ext cx="7589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300" b="1">
                <a:solidFill>
                  <a:srgbClr val="4E2A84"/>
                </a:solidFill>
                <a:latin typeface="Calibri"/>
              </a:rPr>
              <a:t>ModelMonitor</a:t>
            </a:r>
          </a:p>
          <a:p>
            <a:r>
              <a:rPr sz="1100" b="0">
                <a:solidFill>
                  <a:srgbClr val="2D2D2D"/>
                </a:solidFill>
                <a:latin typeface="Calibri"/>
              </a:rPr>
              <a:t>Drift detection module that tracks feature distributions and prediction statistics over time. Flags when incoming data diverges from training patterns.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980944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935224"/>
            <a:ext cx="7589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300" b="1">
                <a:solidFill>
                  <a:srgbClr val="4E2A84"/>
                </a:solidFill>
                <a:latin typeface="Calibri"/>
              </a:rPr>
              <a:t>Interactive Dashboard</a:t>
            </a:r>
          </a:p>
          <a:p>
            <a:r>
              <a:rPr sz="1100" b="0">
                <a:solidFill>
                  <a:srgbClr val="2D2D2D"/>
                </a:solidFill>
                <a:latin typeface="Calibri"/>
              </a:rPr>
              <a:t>Notebook-based dashboard with season, driver, and constructor filters. Visualizes predicted probabilities alongside actual outcomes for rapid model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Northwestern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777240"/>
            <a:ext cx="3200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400" b="1">
                <a:solidFill>
                  <a:srgbClr val="4E2A84"/>
                </a:solidFill>
                <a:latin typeface="Calibri"/>
              </a:rPr>
              <a:t>Key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3931920" cy="3200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Results Summary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Gradient Boosting achieves the best single-model performance (PR AUC 0.852, ROC AUC 0.864 on test)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Ensemble methods match but do not clearly exceed the best single model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Grid position and constructor strength are the dominant predictive features confirmed by SHAP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The temporal split confirms generalization — no overfitting across a 6+ year test period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All five models significantly outperform the grid-only baseline (PR AUC 0.724)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777240"/>
            <a:ext cx="3200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400" b="1">
                <a:solidFill>
                  <a:srgbClr val="4E2A84"/>
                </a:solidFill>
                <a:latin typeface="Calibri"/>
              </a:rPr>
              <a:t>Future Directions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143000"/>
            <a:ext cx="3931920" cy="1554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Limitations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No weather or safety car data — key real-time variables unavailable in the dataset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Label-encoded categoricals may not capture constructor/driver relationships optimally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Model assumes static pre-race features; in-race dynamics are excluded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743200"/>
            <a:ext cx="3931920" cy="1554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 b="1">
                <a:solidFill>
                  <a:srgbClr val="4E2A84"/>
                </a:solidFill>
                <a:latin typeface="Calibri"/>
              </a:rPr>
              <a:t>Next Steps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Integrate weather and safety car data as identified by Jafri (2024)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Explore LightGBM and TabNet for additional gradient boosting baselines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Build a live prediction interface for pre-race probability estimates</a:t>
            </a:r>
          </a:p>
          <a:p>
            <a:r>
              <a:rPr sz="950" b="0">
                <a:solidFill>
                  <a:srgbClr val="2D2D2D"/>
                </a:solidFill>
                <a:latin typeface="Calibri"/>
              </a:rPr>
              <a:t>•  Extend to multi-class position prediction (e.g., podium, points zone)</a:t>
            </a:r>
          </a:p>
        </p:txBody>
      </p:sp>
    </p:spTree>
    <p:extLst>
      <p:ext uri="{BB962C8B-B14F-4D97-AF65-F5344CB8AC3E}">
        <p14:creationId xmlns:p14="http://schemas.microsoft.com/office/powerpoint/2010/main" val="1417245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1406766B-E44C-538E-A147-383E5E67B4F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59959AE-AEC2-6A00-00E5-A2905419BDC2}"/>
              </a:ext>
            </a:extLst>
          </p:cNvPr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2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0241E0F8-9C9E-F450-0547-FA27D049FA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3141C0A2-1A66-E2B9-12CD-EFEBFF2EC00C}"/>
              </a:ext>
            </a:extLst>
          </p:cNvPr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you...</a:t>
            </a:r>
            <a:endParaRPr lang="en-US" sz="4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208E788-A60C-63E1-5C43-4FCACAF5FDCF}"/>
              </a:ext>
            </a:extLst>
          </p:cNvPr>
          <p:cNvSpPr/>
          <p:nvPr/>
        </p:nvSpPr>
        <p:spPr>
          <a:xfrm>
            <a:off x="182880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Alsiyat  ·  Qifan Yang  ·  Boqi Niu</a:t>
            </a:r>
            <a:endParaRPr lang="en-US" sz="1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395485F-564A-EF20-612D-4088DBC03B32}"/>
              </a:ext>
            </a:extLst>
          </p:cNvPr>
          <p:cNvSpPr/>
          <p:nvPr/>
        </p:nvSpPr>
        <p:spPr>
          <a:xfrm>
            <a:off x="182880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422  ·  Dr. Irene Tsapara  ·  Northwestern University</a:t>
            </a:r>
            <a:endParaRPr lang="en-US" sz="11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19ED518-96F6-6A52-2003-CFD42E95B130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4B37BCB-D9C6-D932-7F91-D1D10AF21230}"/>
              </a:ext>
            </a:extLst>
          </p:cNvPr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A17F86-CD20-1947-92F1-796B94A7B24E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1719</Words>
  <Application>Microsoft Macintosh PowerPoint</Application>
  <PresentationFormat>On-screen Show (16:9)</PresentationFormat>
  <Paragraphs>420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 One Race Outcome Prediction</dc:title>
  <dc:subject>F1 Presentation</dc:subject>
  <dc:creator>Sara Alsiyat</dc:creator>
  <cp:keywords/>
  <dc:description/>
  <cp:lastModifiedBy>Sara Abdullah Alsiyat</cp:lastModifiedBy>
  <cp:revision>7</cp:revision>
  <dcterms:created xsi:type="dcterms:W3CDTF">2026-02-09T00:02:25Z</dcterms:created>
  <dcterms:modified xsi:type="dcterms:W3CDTF">2026-02-28T20:48:18Z</dcterms:modified>
  <cp:category/>
</cp:coreProperties>
</file>