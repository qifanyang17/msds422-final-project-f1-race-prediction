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BD4940-D55E-4A24-909B-A4CB52139882}">
  <a:tblStyle styleId="{06BD4940-D55E-4A24-909B-A4CB521398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66134A7-EA12-46B3-960F-E878C2FED40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21382b8c_0_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cd21382b8c_0_2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d21382b8c_0_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cd21382b8c_0_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01F6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713232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One Race Outcome Prediction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Exploratory Data Analysis &amp; Feature Engineering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2926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MSDS 422: Practical Machine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Authors: </a:t>
            </a: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Sara Alsiyat  ·  Qifan Yang  ·  Boqi Niu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Professor: </a:t>
            </a: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Dr. Irene Tsapara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February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0000" y="7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60000" y="7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Introduction &amp; Problem Statement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60000" y="9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Why predict F1 top-10 finishes?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0000" y="10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60000" y="107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Data Integration Strategy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60000" y="126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11 tables merged into one unified dataset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0000" y="14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960000" y="143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60000" y="162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Key patterns and insights from 74 years of F1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0000" y="18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60000" y="179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60000" y="198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35+ leakage-safe features across 12 categories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00000" y="21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60000" y="215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Data Leakage Prevention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60000" y="234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How we ensured model integrity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0000" y="25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960000" y="25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Baseline Model Performance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60000" y="27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Initial three-model comparison results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00000" y="289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960000" y="287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Full Model Comparison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60000" y="306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5 models + baseline evaluated on val and test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00000" y="325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60000" y="323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Feature Importance &amp; SHAP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60000" y="342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Interpretability analysis of top predictors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00000" y="361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60000" y="359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Ensemble Learning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60000" y="378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Voting, weighting, and stacking strategies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00000" y="397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960000" y="395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60000" y="414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Registry, batch scoring, and monitoring pipeline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00000" y="4330000"/>
            <a:ext cx="320040" cy="32004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60000" y="4310000"/>
            <a:ext cx="7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60000" y="4500000"/>
            <a:ext cx="7200000" cy="1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Key findings and next directions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Objectives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005840" y="960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F1 race outcomes depend on driver skill, constructor performance, track characteristics, and race conditions.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Finishing in the top 10 determines whether a driver earns championship points, a critical threshold for competitive success.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Can machine learning predict top-10 finishes using only pre-race information?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663440" y="822960"/>
            <a:ext cx="4114800" cy="356616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5303520" y="960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846320" y="155448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and evaluate ML models for top-10 finish prediction using historical F1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Examine how qualifying position, constructor, driver history, and circuit affect outcomes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Explore circuit-level variation in race unpredictability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Compare models for accuracy, interpretability, and decision-support value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Integration Strategy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1950–2024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Span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514600" y="777240"/>
            <a:ext cx="1920240" cy="91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51460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26,000+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51460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Driver–Race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663440" y="777240"/>
            <a:ext cx="1920240" cy="91440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6344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6344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 Merged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812280" y="777240"/>
            <a:ext cx="1920240" cy="91440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12280" y="777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12280" y="13258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Created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960120" y="2011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Tables Integrated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Races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Pit Stops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Lap Times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 Standings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solidFill>
            <a:srgbClr val="E8E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 Standings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Target Variable:  </a:t>
            </a: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top10_finish — binary indicator (1 = driver finished in top 10, 0 = otherwise). Derived from positionOrder ≤ 10.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EDA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5760" y="77724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5760" y="77724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914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005840" y="88696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Grid Position Dominance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94360" y="132588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Starting position is the strongest predictor of top-10 finishes. Pole position converts to top-10 at &gt;95% rate; grid 15+ drops below 30%.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754880" y="77724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754880" y="77724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914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5394960" y="88696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 Effect: 88%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983480" y="132588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Van Kesteren &amp; Bergkamp (2023) found ~88% of F1 result variance is attributable to the constructor, not the driver.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65760" y="265176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5760" y="265176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DNF Rate Decline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94360" y="320040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Did Not Finish rates have dropped from ~40% in the 1950s to under 10% in recent seasons, reflecting reliability improvements.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754880" y="2651760"/>
            <a:ext cx="4114800" cy="169164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754880" y="2651760"/>
            <a:ext cx="54864" cy="16916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 Variation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983480" y="320040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Some circuits show much higher position volatility, suggesting more unpredictable races — important for modeling uncertainty.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Engineering: 35+ Features Across 12 Categories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2004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2004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148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148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Driver age, race month,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season stage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51460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51460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60604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60604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Rolling 5-race top-10 rate,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DNF rate, avg position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70916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70916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80060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80060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Team rolling stats,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season top-10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903720" y="7616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903720" y="7616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995160" y="8530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995160" y="12645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DNF rate, volatility,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driver-circuit history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2004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2004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1148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Driver–Team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1148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Races together,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joint success 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51460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51460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60604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Qualifying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60604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Grid position, front-row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start, top-5/top-10 flags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0916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0916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80060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Competitive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0060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Field size,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grid percentile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903720" y="2133210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903720" y="2133210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995160" y="222465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Momentum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95160" y="263613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Top-10 streak, points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last 3, position trend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2004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004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1148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Pit Stop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Avg stops per race,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constructor pit efficiency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51460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51460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60604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Championship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60604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Standings position,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points gap to leader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70916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0916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0060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80060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Regulation era encoding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(1950s to ground effect)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903720" y="3465735"/>
            <a:ext cx="20116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903720" y="3465735"/>
            <a:ext cx="2011680" cy="4572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995160" y="3557175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Categorical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995160" y="3968655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Label-encoded driver,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constructor, circuit, country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Leakage: The Issue &amp; The Fix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822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960120" y="822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143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DC143C"/>
                </a:solidFill>
                <a:latin typeface="Calibri"/>
                <a:ea typeface="Calibri"/>
                <a:cs typeface="Calibri"/>
                <a:sym typeface="Calibri"/>
              </a:rPr>
              <a:t>What Went Wrong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Initial models scored 1.000 ROC AUC — a clear sign of data leakage.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Post-race features were included as model inputs: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positionOrder — directly defines the target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points — only awarded to top-10 finishers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milliseconds, laps — post-race outcome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standings included current race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822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5257800" y="822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B9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8B947"/>
                </a:solidFill>
                <a:latin typeface="Calibri"/>
                <a:ea typeface="Calibri"/>
                <a:cs typeface="Calibri"/>
                <a:sym typeface="Calibri"/>
              </a:rPr>
              <a:t>How We Fixed 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846320" y="1280160"/>
            <a:ext cx="39319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Strict Leakage Guard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Explicit blocklist of 12+ post-race columns removed from feature matrix.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Temporal shift(1) on All Rolling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Every expanding/rolling window excludes the current race.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Standings Fix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Shifted to previous round's standings so model only sees pre-race info.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Leakage Audit Cell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Automated check flags any feature with |correlation| &gt; 0.85 to the target.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Model Performance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Temporal 3-way split:  Train (&lt; 2018)  |  Validation (2018–2021)  |  Test Holdout (2022–2024)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 Set (2018–2021)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10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{06BD4940-D55E-4A24-909B-A4CB52139882}</a:tableStyleId>
              </a:tblPr>
              <a:tblGrid>
                <a:gridCol w="1554475"/>
                <a:gridCol w="777250"/>
                <a:gridCol w="777250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0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Test Holdout (2022–2024)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0"/>
          <p:cNvGraphicFramePr/>
          <p:nvPr/>
        </p:nvGraphicFramePr>
        <p:xfrm>
          <a:off x="484632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{06BD4940-D55E-4A24-909B-A4CB52139882}</a:tableStyleId>
              </a:tblPr>
              <a:tblGrid>
                <a:gridCol w="1554475"/>
                <a:gridCol w="777250"/>
                <a:gridCol w="777250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2A8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5F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0F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10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Random Forest achieves best overall performance (0.869 ROC AUC on holdout)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scores slightly higher than validation — no overfitting detected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models use only pre-race features after leakage fix — results are realistic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Strategy &amp; Pipeline</a:t>
            </a:r>
            <a:endParaRPr/>
          </a:p>
        </p:txBody>
      </p:sp>
      <p:grpSp>
        <p:nvGrpSpPr>
          <p:cNvPr id="255" name="Google Shape;255;p11"/>
          <p:cNvGrpSpPr/>
          <p:nvPr/>
        </p:nvGrpSpPr>
        <p:grpSpPr>
          <a:xfrm>
            <a:off x="1005840" y="800000"/>
            <a:ext cx="7132320" cy="3083040"/>
            <a:chOff x="833344" y="800000"/>
            <a:chExt cx="7132320" cy="3083040"/>
          </a:xfrm>
        </p:grpSpPr>
        <p:sp>
          <p:nvSpPr>
            <p:cNvPr id="256" name="Google Shape;256;p11"/>
            <p:cNvSpPr/>
            <p:nvPr/>
          </p:nvSpPr>
          <p:spPr>
            <a:xfrm>
              <a:off x="119910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83334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Collection</a:t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83334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Kaggle F1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11 CSV tables</a:t>
              </a: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266214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229638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Integration</a:t>
              </a: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229638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Merge into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driver–race rows</a:t>
              </a: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412518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75942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EDA</a:t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375942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Patterns,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missing data</a:t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558822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522246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Engineering</a:t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522246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35+ features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shift(1) safe</a:t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7051264" y="80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685504" y="140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Leakage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Audit</a:t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685504" y="187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Block post-race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columns</a:t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119910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83334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Baseline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Models</a:t>
              </a: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83334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LR, RF, GB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3-way split</a:t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266214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229638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Model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Selection</a:t>
              </a: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229638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MLP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hyperparameter search</a:t>
              </a: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412518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375942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Ensemble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Learning</a:t>
              </a: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375942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Voting, stacking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weighted blend</a:t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558822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522246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SHAP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Analysis</a:t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22246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interpretability</a:t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7051264" y="2350000"/>
              <a:ext cx="548640" cy="548640"/>
            </a:xfrm>
            <a:prstGeom prst="ellipse">
              <a:avLst/>
            </a:prstGeom>
            <a:solidFill>
              <a:srgbClr val="4E2A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6685504" y="29586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E2A84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6685504" y="3425840"/>
              <a:ext cx="1280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Registry, batch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5A5A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/>
            </a:p>
          </p:txBody>
        </p:sp>
      </p:grpSp>
      <p:sp>
        <p:nvSpPr>
          <p:cNvPr id="286" name="Google Shape;286;p11"/>
          <p:cNvSpPr/>
          <p:nvPr/>
        </p:nvSpPr>
        <p:spPr>
          <a:xfrm>
            <a:off x="91440" y="3960000"/>
            <a:ext cx="36576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Design Principles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06946" y="4250000"/>
            <a:ext cx="77724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Reproducible pipeline:</a:t>
            </a: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EDA → feature engineering → modeling → evaluation → deployment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206946" y="4480000"/>
            <a:ext cx="77724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Validation-first mindset:</a:t>
            </a: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Model choices based on validation; test set held out for final confirmation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Model Comparison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Temporal 3-way split:  Train (&lt; 2018)  |  Validation (2018–2021)  |  Test Holdout (2022–2024)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7200" y="1005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Validation Set (2018–2021)</a:t>
            </a:r>
            <a:endParaRPr/>
          </a:p>
        </p:txBody>
      </p:sp>
      <p:graphicFrame>
        <p:nvGraphicFramePr>
          <p:cNvPr id="300" name="Google Shape;300;p12"/>
          <p:cNvGraphicFramePr/>
          <p:nvPr/>
        </p:nvGraphicFramePr>
        <p:xfrm>
          <a:off x="36576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{D66134A7-EA12-46B3-960F-E878C2FED40C}</a:tableStyleId>
              </a:tblPr>
              <a:tblGrid>
                <a:gridCol w="1645925"/>
                <a:gridCol w="777250"/>
                <a:gridCol w="777250"/>
                <a:gridCol w="822950"/>
              </a:tblGrid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(Grid LR)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12"/>
          <p:cNvSpPr/>
          <p:nvPr/>
        </p:nvSpPr>
        <p:spPr>
          <a:xfrm>
            <a:off x="4846320" y="1005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Test Holdout (2022–2024)</a:t>
            </a:r>
            <a:endParaRPr/>
          </a:p>
        </p:txBody>
      </p:sp>
      <p:graphicFrame>
        <p:nvGraphicFramePr>
          <p:cNvPr id="302" name="Google Shape;302;p12"/>
          <p:cNvGraphicFramePr/>
          <p:nvPr/>
        </p:nvGraphicFramePr>
        <p:xfrm>
          <a:off x="475488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{D66134A7-EA12-46B3-960F-E878C2FED40C}</a:tableStyleId>
              </a:tblPr>
              <a:tblGrid>
                <a:gridCol w="1645925"/>
                <a:gridCol w="777250"/>
                <a:gridCol w="777250"/>
                <a:gridCol w="822950"/>
              </a:tblGrid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(Grid LR)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p12"/>
          <p:cNvSpPr/>
          <p:nvPr/>
        </p:nvSpPr>
        <p:spPr>
          <a:xfrm>
            <a:off x="548640" y="2800000"/>
            <a:ext cx="804672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achieves the best PR AUC on both validation (0.805) and test (0.852)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five models significantly outperform the grid-only baseline, validating the feature engineering 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scores are consistent with validation — no overfitting detected across the temporal split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Tree-based models (RF, GB) consistently outperform linear and neural network approaches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Importance &amp; SHAP Analysis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219777" y="778042"/>
            <a:ext cx="414367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Top Predictive Features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position (starting position) — strongest single predictor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Constructor rolling top-10 rate — team strength signal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 5-race rolling top-10 rate — recent form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percentile — relative field position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Championship standing position — season context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Driver–constructor joint success rate — team synergy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023360" y="778042"/>
            <a:ext cx="5342020" cy="1734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SHAP Insights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Grid position has highest mean |SHAP value| — confirms domain knowledge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Constructor features show strong positive SHAP for top teams (Mercedes, Red Bull)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Driver momentum features (streaks, recent form) show asymmetric effects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Circuit-specific features have moderate but consistent directional influence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Era encoding captures structural shifts in competitiveness across regulation periods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19777" y="3003804"/>
            <a:ext cx="596445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Permutation importance computed on test set with 8 repeats for stability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SHAP TreeExplainer applied to best tree-based model on 1,000-sample subset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Char char="•"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Both methods confirm grid position and constructor strength as dominant predictive signals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Learning Results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Four ensemble strategies built from the top 2 validation models (Random Forest, Gradient Boosting)</a:t>
            </a:r>
            <a:endParaRPr/>
          </a:p>
        </p:txBody>
      </p:sp>
      <p:graphicFrame>
        <p:nvGraphicFramePr>
          <p:cNvPr id="325" name="Google Shape;325;p14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{D66134A7-EA12-46B3-960F-E878C2FED40C}</a:tableStyleId>
              </a:tblPr>
              <a:tblGrid>
                <a:gridCol w="2194550"/>
                <a:gridCol w="1554475"/>
                <a:gridCol w="1554475"/>
                <a:gridCol w="1554475"/>
                <a:gridCol w="1371600"/>
              </a:tblGrid>
              <a:tr h="2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Ensemble Method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PR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PR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ROC 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E2A84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 Voting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5FA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Voting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Stacking (Meta-LR)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0F0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Voting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14"/>
          <p:cNvSpPr/>
          <p:nvPr/>
        </p:nvSpPr>
        <p:spPr>
          <a:xfrm>
            <a:off x="914400" y="225407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Best Single Model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548640" y="24000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ROC AUC: 0.864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PR AUC: 0.852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F1: 0.789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Fastest inference, simplest to deploy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5303520" y="2249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Best Ensemble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4846320" y="24000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Stacking (Meta-LR)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ROC AUC: 0.868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PR AUC: 0.842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 F1: 0.798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Marginal ROC gain, lower PR AUC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48640" y="38800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Ensembles match but do not clearly exceed the best single model (Gradient Boosting) on this dataset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is recommended for deployment due to comparable performance with simpler architecture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Deployment &amp; Monitoring</a:t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57200" y="731520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005840" y="68580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 Registry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Best model and scaler saved via joblib for reproducible deployment. Feature list and metadata stored as JSON artifacts.</a:t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457200" y="1481328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005840" y="1435608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BatchPredictor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Offline scoring utility that loads the serialized model and scaler, accepts a DataFrame of pre-race features, and returns top-10 probability estimates.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005840" y="2185416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ModelMonitor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Drift detection module that tracks feature distributions and prediction statistics over time. Flags when incoming data diverges from training patterns.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57200" y="2980944"/>
            <a:ext cx="365760" cy="365760"/>
          </a:xfrm>
          <a:prstGeom prst="ellipse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1005840" y="2935224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Notebook-based dashboard with season, driver, and constructor filters. Visualizes predicted probabilities alongside actual outcomes for rapid model evaluation.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365760" y="472744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57200" y="45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Impact &amp; Lessons Learned</a:t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1384248" y="1011850"/>
            <a:ext cx="181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557675" y="1498950"/>
            <a:ext cx="3931800" cy="20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Builds a predictive system estimating a driver’s Top-10 finish probability before a race using historical F1 data.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Provides data-driven insights for teams and analysts to evaluate race strategies (qualifying setup, tire choices, reliability risks).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Enhances broadcast storytelling and race analytics by quantifying performance trends and competitive momentum.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Supports fan engagement platforms such as fantasy sports and prediction markets through transparent probability forecasts.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Establishes a reproducible framework for analyzing driver, constructor, and circuit performance across eras.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5831898" y="1011850"/>
            <a:ext cx="190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4819250" y="1478100"/>
            <a:ext cx="39318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Preventing data leakage is critical in sports prediction models.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Race outcomes should not influence pre-race feature construction.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Three factors dominate predictive power: Grid position, Constructor strength, and Recent driver performance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Combining short-term rolling metrics with long-term career statistics improves prediction stability.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Extensive feature engineering improves signal quality but requires strong evaluation and interpretability checks.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365760" y="472744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457200" y="45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 &amp; Limitations in the Analysis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1429348" y="966750"/>
            <a:ext cx="171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548650" y="1405075"/>
            <a:ext cx="3931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engineered features represent information available before race start to prevent data leakage.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Rolling statistics (e.g., last-5 race performance) are built using historically shifted windows.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Top-10 finish is used as a consistent proxy for race success across different eras.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Missing qualifying data is approximated using grid position and median imputation.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Label encoding assumes tree-based models can learn entity differences without artificial ordering.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Time-based data split: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Train: &lt;2018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Validation: 2019–2021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Test: 2022–2024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6039472" y="966750"/>
            <a:ext cx="147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4810225" y="1405075"/>
            <a:ext cx="3931800" cy="29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Formula One evolves over time, with rule changes, technological advances, and competitive shifts affecting model stability.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Dataset lacks important contextual variables such as: weather conditions, safety car events, pit strategy, penalties, and tire compounds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Early-era missing qualifying data required imputation, potentially weakening signal quality.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Several engineered features exhibit multicollinearity, complicating interpretation.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Repeated driver-season patterns may create residual dependence, affecting generalization.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No weather or safety car data — key real-time variables unavailable in the dataset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Label-encoded categoricals may not capture constructor/driver relationships optimally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Model assumes static pre-race features; in-race dynamics are excluded by design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951095" y="97576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585400" y="1552075"/>
            <a:ext cx="3931800" cy="23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Results Summary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Gradient Boosting achieves the best single-model performance (PR AUC 0.852, ROC AUC 0.864 on test)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Ensemble methods match but do not clearly exceed the best single model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Grid position and constructor strength are the dominant predictive features confirmed by SHAP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The temporal split confirms generalization — no overfitting across a 6+ year test period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All five models significantly outperform the grid-only baseline (PR AUC 0.724)</a:t>
            </a:r>
            <a:endParaRPr sz="1500"/>
          </a:p>
        </p:txBody>
      </p:sp>
      <p:sp>
        <p:nvSpPr>
          <p:cNvPr id="381" name="Google Shape;381;p18"/>
          <p:cNvSpPr/>
          <p:nvPr/>
        </p:nvSpPr>
        <p:spPr>
          <a:xfrm>
            <a:off x="5303520" y="97576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4937825" y="1552075"/>
            <a:ext cx="39318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E2A84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Integrate weather and safety car data as identified by Jafri (2024)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Explore LightGBM and TabNet for additional gradient boosting baselines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Build a live prediction interface for pre-race probability estimates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Extend to multi-class position prediction (e.g., podium, points zone)</a:t>
            </a:r>
            <a:endParaRPr b="0"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Enforce a strict pre-race feature set to avoid outcome leakage.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Apply hyperparameter tuning and probability calibration.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Conduct cross-era evaluation to detect performance degradation from regulatory changes.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Integrate additional contextual data such as weather, safety cars, penalties, and tire strategies.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 Deploy the best model as a production inference pipeline (batch or API) with monitoring and periodic retraining.</a:t>
            </a:r>
            <a:endParaRPr sz="105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0" name="Google Shape;390;p19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3886200" y="11887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you...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Sara Alsiyat  ·  Qifan Yang  ·  Boqi Niu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0F0"/>
                </a:solidFill>
                <a:latin typeface="Calibri"/>
                <a:ea typeface="Calibri"/>
                <a:cs typeface="Calibri"/>
                <a:sym typeface="Calibri"/>
              </a:rPr>
              <a:t>MSDS 422  ·  Dr. Irene Tsapara  ·  Northwestern University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Northwestern University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